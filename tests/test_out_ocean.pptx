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Local Inference (ms)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Baseline VLA</c:v>
                  </c:pt>
                  <c:pt idx="1">
                    <c:v>WAM Core</c:v>
                  </c:pt>
                  <c:pt idx="2">
                    <c:v>WAM++ Optimized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250</c:v>
                </c:pt>
                <c:pt idx="1">
                  <c:v>16</c:v>
                </c:pt>
                <c:pt idx="2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Remote Cloud API (ms)</c:v>
                </c:pt>
              </c:strCache>
            </c:strRef>
          </c:tx>
          <c:spPr>
            <a:solidFill>
              <a:srgbClr val="1E3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Baseline VLA</c:v>
                  </c:pt>
                  <c:pt idx="1">
                    <c:v>WAM Core</c:v>
                  </c:pt>
                  <c:pt idx="2">
                    <c:v>WAM++ Optimized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850</c:v>
                </c:pt>
                <c:pt idx="1">
                  <c:v>450</c:v>
                </c:pt>
                <c:pt idx="2">
                  <c:v>380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7D2FE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7D2FE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WAM runs at 60fps local inference to enable real-time reactive correction.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2743200" cy="59436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0" y="182880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Embodied &amp; Spatial AI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389120" y="4114800"/>
            <a:ext cx="6858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Intelligence and Autonomous Action</a:t>
            </a: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Robotics &amp; World Modeling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01 | EMBODIED &amp; SPATIAL AI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64240" y="210312"/>
            <a:ext cx="73152" cy="73152"/>
          </a:xfrm>
          <a:prstGeom prst="oval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11173968" y="210312"/>
            <a:ext cx="73152" cy="73152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11283696" y="210312"/>
            <a:ext cx="73152" cy="73152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502920"/>
            <a:ext cx="109728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6576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Paradigm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C7D2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46504" y="1463040"/>
            <a:ext cx="86868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46504" y="1463040"/>
            <a:ext cx="86868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2020824" y="1737360"/>
            <a:ext cx="8138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"Embodied AI bridges the gap between passive digital reasoning and physical action. By grounding intelligence in 3D space, agents learn to perceive, simulate, and navigate the physical world."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02 | EMBODIED &amp; SPATIAL AI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64240" y="210312"/>
            <a:ext cx="73152" cy="73152"/>
          </a:xfrm>
          <a:prstGeom prst="oval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11173968" y="210312"/>
            <a:ext cx="73152" cy="73152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11283696" y="210312"/>
            <a:ext cx="73152" cy="73152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502920"/>
            <a:ext cx="109728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6576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Core Domains of Spatial AI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C7D2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463040"/>
            <a:ext cx="54864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463040"/>
            <a:ext cx="54864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737360"/>
            <a:ext cx="1188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828800" y="1691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Embodied AI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828800" y="2057400"/>
            <a:ext cx="3749040" cy="0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214884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digital intelligence into physical robots to act, learn, and manipulate objects.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336792" y="1463040"/>
            <a:ext cx="54864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36792" y="1463040"/>
            <a:ext cx="54864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473952" y="1737360"/>
            <a:ext cx="1188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🔹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7799832" y="1691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Perception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99832" y="2057400"/>
            <a:ext cx="3749040" cy="0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214884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Voxel-level 3D semantic mapping, real-time depth tracing, and active sensor fusion.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4023360"/>
            <a:ext cx="54864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023360"/>
            <a:ext cx="54864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297680"/>
            <a:ext cx="1188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🔹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1828800" y="4251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Navigation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828800" y="4617720"/>
            <a:ext cx="3749040" cy="0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0" y="470916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trajectory optimization, localized SLAM, and dynamic obstacle avoidance.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336792" y="4023360"/>
            <a:ext cx="54864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36792" y="4023360"/>
            <a:ext cx="54864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6473952" y="4297680"/>
            <a:ext cx="1188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🔹</a:t>
            </a:r>
            <a:endParaRPr lang="en-US" sz="4400" dirty="0"/>
          </a:p>
        </p:txBody>
      </p:sp>
      <p:sp>
        <p:nvSpPr>
          <p:cNvPr id="30" name="Text 28"/>
          <p:cNvSpPr/>
          <p:nvPr/>
        </p:nvSpPr>
        <p:spPr>
          <a:xfrm>
            <a:off x="7799832" y="4251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799832" y="4617720"/>
            <a:ext cx="3749040" cy="0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99832" y="470916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agents to automated assembly lines, warehouses, and complex physical environments.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03 | EMBODIED &amp; SPATIAL AI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64240" y="210312"/>
            <a:ext cx="73152" cy="73152"/>
          </a:xfrm>
          <a:prstGeom prst="oval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11173968" y="210312"/>
            <a:ext cx="73152" cy="73152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11283696" y="210312"/>
            <a:ext cx="73152" cy="73152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502920"/>
            <a:ext cx="109728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6576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Embodied Agent Evolution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C7D2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011680"/>
            <a:ext cx="103327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255520" y="1874520"/>
            <a:ext cx="274320" cy="274320"/>
          </a:xfrm>
          <a:prstGeom prst="oval">
            <a:avLst/>
          </a:prstGeom>
          <a:solidFill>
            <a:srgbClr val="3B82F6"/>
          </a:solidFill>
          <a:ln w="25400">
            <a:solidFill>
              <a:srgbClr val="F0F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35480" y="1280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2377440"/>
            <a:ext cx="332232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377440"/>
            <a:ext cx="332232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51460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Bootstrapping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2971800"/>
            <a:ext cx="3048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Warm-start agent policy networks in photorealistic synthetic virtual environments.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1874520"/>
            <a:ext cx="274320" cy="274320"/>
          </a:xfrm>
          <a:prstGeom prst="oval">
            <a:avLst/>
          </a:prstGeom>
          <a:solidFill>
            <a:srgbClr val="3B82F6"/>
          </a:solidFill>
          <a:ln w="25400">
            <a:solidFill>
              <a:srgbClr val="F0F7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23560" y="1280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419600" y="2377440"/>
            <a:ext cx="332232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19600" y="2377440"/>
            <a:ext cx="332232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4556760" y="251460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Sim-to-Real Transfer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56760" y="2971800"/>
            <a:ext cx="3048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the virtual-physical domain gaps using zero-shot domain randomization techniques.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631680" y="1874520"/>
            <a:ext cx="274320" cy="274320"/>
          </a:xfrm>
          <a:prstGeom prst="oval">
            <a:avLst/>
          </a:prstGeom>
          <a:solidFill>
            <a:srgbClr val="3B82F6"/>
          </a:solidFill>
          <a:ln w="25400">
            <a:solidFill>
              <a:srgbClr val="F0F7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11640" y="1280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107680" y="2377440"/>
            <a:ext cx="332232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07680" y="2377440"/>
            <a:ext cx="332232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8244840" y="251460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Autonomous Mastery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44840" y="2971800"/>
            <a:ext cx="3048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agents to refine behaviors via self-supervised online reinforcement learning.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04 | EMBODIED &amp; SPATIAL AI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64240" y="210312"/>
            <a:ext cx="73152" cy="73152"/>
          </a:xfrm>
          <a:prstGeom prst="oval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11173968" y="210312"/>
            <a:ext cx="73152" cy="73152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11283696" y="210312"/>
            <a:ext cx="73152" cy="73152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502920"/>
            <a:ext cx="109728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6576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Action Model (WAM)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C7D2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463040"/>
            <a:ext cx="4754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463040"/>
            <a:ext cx="475488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1737360"/>
            <a:ext cx="4206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Spatiotemporal Cross-Attention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Processes history spatial tokens and predicts subsequent action states.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Register Tokens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Encodes 3D physical coordinates into unified embedding representations.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Constraint Bounds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Enforces structural collision limits and gravitational constants directly in latent space.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43891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  <a:prstDash val="solid"/>
          </a:ln>
        </p:spPr>
      </p:sp>
      <p:pic>
        <p:nvPicPr>
          <p:cNvPr id="13" name="Image 0" descr="/mnt/c/Users/Administrator/.gemini/skills/markdown-to-pptx/tests/assets/model_architectu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72" y="1536192"/>
            <a:ext cx="4242816" cy="42428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05 | EMBODIED &amp; SPATIAL AI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64240" y="210312"/>
            <a:ext cx="73152" cy="73152"/>
          </a:xfrm>
          <a:prstGeom prst="oval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11173968" y="210312"/>
            <a:ext cx="73152" cy="73152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11283696" y="210312"/>
            <a:ext cx="73152" cy="73152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502920"/>
            <a:ext cx="109728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6576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Statistics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C7D2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463040"/>
            <a:ext cx="3322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463040"/>
            <a:ext cx="332232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783080"/>
            <a:ext cx="313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B82F6"/>
                </a:solidFill>
                <a:latin typeface="Georgia, 'Microsoft YaHei', serif" pitchFamily="34" charset="0"/>
                <a:ea typeface="Georgia, 'Microsoft YaHei', serif" pitchFamily="34" charset="-122"/>
                <a:cs typeface="Georgia, 'Microsoft YaHei', serif" pitchFamily="34" charset="-120"/>
              </a:rPr>
              <a:t>98.2%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914400" y="2697480"/>
            <a:ext cx="2956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in voxel-level 3D semantic mapping and active sensor fusion.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19600" y="1463040"/>
            <a:ext cx="3322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19600" y="1463040"/>
            <a:ext cx="332232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4511040" y="1783080"/>
            <a:ext cx="313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B82F6"/>
                </a:solidFill>
                <a:latin typeface="Georgia, 'Microsoft YaHei', serif" pitchFamily="34" charset="0"/>
                <a:ea typeface="Georgia, 'Microsoft YaHei', serif" pitchFamily="34" charset="-122"/>
                <a:cs typeface="Georgia, 'Microsoft YaHei', serif" pitchFamily="34" charset="-120"/>
              </a:rPr>
              <a:t>12.5x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602480" y="2697480"/>
            <a:ext cx="2956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in sim-to-real transfer with zero-shot domain randomization.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07680" y="1463040"/>
            <a:ext cx="3322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07680" y="1463040"/>
            <a:ext cx="332232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8199120" y="1783080"/>
            <a:ext cx="313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B82F6"/>
                </a:solidFill>
                <a:latin typeface="Georgia, 'Microsoft YaHei', serif" pitchFamily="34" charset="0"/>
                <a:ea typeface="Georgia, 'Microsoft YaHei', serif" pitchFamily="34" charset="-122"/>
                <a:cs typeface="Georgia, 'Microsoft YaHei', serif" pitchFamily="34" charset="-120"/>
              </a:rPr>
              <a:t>-35%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8290560" y="2697480"/>
            <a:ext cx="2956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rates in crowded dynamic obstacle environments.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06 | EMBODIED &amp; SPATIAL AI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64240" y="210312"/>
            <a:ext cx="73152" cy="73152"/>
          </a:xfrm>
          <a:prstGeom prst="oval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11173968" y="210312"/>
            <a:ext cx="73152" cy="73152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11283696" y="210312"/>
            <a:ext cx="73152" cy="73152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502920"/>
            <a:ext cx="109728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6576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vs Physical Contrast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C7D2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463040"/>
            <a:ext cx="51663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463040"/>
            <a:ext cx="516636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69164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🔹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22960" y="21945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Environment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697480"/>
            <a:ext cx="4800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Photorealistic virtual domain, zero hardware risk, infinite parallel rollouts, perfect sensor measurements.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1463040"/>
            <a:ext cx="51663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1463040"/>
            <a:ext cx="516636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69164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🔹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55080" y="21945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Real World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2697480"/>
            <a:ext cx="4800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real-world sensors, mechanical wear and lag, high collision risks, limited execution speed.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07 | EMBODIED &amp; SPATIAL AI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64240" y="210312"/>
            <a:ext cx="73152" cy="73152"/>
          </a:xfrm>
          <a:prstGeom prst="oval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11173968" y="210312"/>
            <a:ext cx="73152" cy="73152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11283696" y="210312"/>
            <a:ext cx="73152" cy="73152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502920"/>
            <a:ext cx="109728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6576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Benchmark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C7D2FE"/>
            </a:solidFill>
            <a:prstDash val="solid"/>
          </a:ln>
        </p:spPr>
      </p:sp>
      <p:graphicFrame>
        <p:nvGraphicFramePr>
          <p:cNvPr id="9" name="Chart 0" descr=""/>
          <p:cNvGraphicFramePr/>
          <p:nvPr/>
        </p:nvGraphicFramePr>
        <p:xfrm>
          <a:off x="914400" y="1463040"/>
          <a:ext cx="1033272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Microsoft YaHei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Microsoft YaHei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2026-07-04T03:04:37Z</dcterms:created>
  <dcterms:modified xsi:type="dcterms:W3CDTF">2026-07-04T03:04:37Z</dcterms:modified>
</cp:coreProperties>
</file>