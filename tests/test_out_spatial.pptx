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WAM runs at 60fps local inference to enable real-time reactive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&amp; Spatial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Intelligence and Autonomous Action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Robotics &amp; World Modeling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01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36576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65760"/>
            <a:ext cx="182880" cy="18288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54864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48872" y="36576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63D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F7D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AI &amp; SPATIAL INTELLIGENCE | INDUSTRY TRENDS | SLIDE 01/12 | 2024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Paradigm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Overview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0E1A1E"/>
          </a:solidFill>
          <a:ln w="19050">
            <a:solidFill>
              <a:srgbClr val="163D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"Embodied AI bridges the gap between passive digital reasoning and physical action. By grounding intelligence in 3D space, agents learn to perceive, simulate, and navigate the physical world."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02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36576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65760"/>
            <a:ext cx="182880" cy="18288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54864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48872" y="36576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63D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F7D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AI &amp; SPATIAL INTELLIGENCE | INDUSTRY TRENDS | SLIDE 02/12 | 2024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Core Domains of Spatial AI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Overview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1463040"/>
            <a:ext cx="5120640" cy="1965960"/>
          </a:xfrm>
          <a:prstGeom prst="roundRect">
            <a:avLst/>
          </a:prstGeom>
          <a:solidFill>
            <a:srgbClr val="0E1A1E"/>
          </a:solidFill>
          <a:ln w="19050">
            <a:solidFill>
              <a:srgbClr val="163D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75564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20574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Bringing digital intelligence into physical robots to act, learn, and manipulate objects.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463040"/>
            <a:ext cx="5120640" cy="1965960"/>
          </a:xfrm>
          <a:prstGeom prst="roundRect">
            <a:avLst/>
          </a:prstGeom>
          <a:solidFill>
            <a:srgbClr val="0E1A1E"/>
          </a:solidFill>
          <a:ln w="19050">
            <a:solidFill>
              <a:srgbClr val="163D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463040"/>
            <a:ext cx="51206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75564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🔹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0664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Perception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20574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Voxel-level 3D semantic mapping, real-time depth tracing, and active sensor fusion.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886200"/>
            <a:ext cx="5120640" cy="1965960"/>
          </a:xfrm>
          <a:prstGeom prst="roundRect">
            <a:avLst/>
          </a:prstGeom>
          <a:solidFill>
            <a:srgbClr val="0E1A1E"/>
          </a:solidFill>
          <a:ln w="19050">
            <a:solidFill>
              <a:srgbClr val="163D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886200"/>
            <a:ext cx="51206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7880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🔹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82880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Navigation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28800" y="4480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 trajectory optimization, localized SLAM, and dynamic obstacle avoidance.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886200"/>
            <a:ext cx="5120640" cy="1965960"/>
          </a:xfrm>
          <a:prstGeom prst="roundRect">
            <a:avLst/>
          </a:prstGeom>
          <a:solidFill>
            <a:srgbClr val="0E1A1E"/>
          </a:solidFill>
          <a:ln w="19050">
            <a:solidFill>
              <a:srgbClr val="163D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886200"/>
            <a:ext cx="51206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178808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🔹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40664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06640" y="4480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Deploying agents to automated assembly lines, warehouses, and complex physical environments.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03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36576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65760"/>
            <a:ext cx="182880" cy="18288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54864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48872" y="36576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63D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F7D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AI &amp; SPATIAL INTELLIGENCE | INDUSTRY TRENDS | SLIDE 03/12 | 2024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Agent Evolution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Overview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011680"/>
            <a:ext cx="103327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255520" y="1874520"/>
            <a:ext cx="274320" cy="274320"/>
          </a:xfrm>
          <a:prstGeom prst="oval">
            <a:avLst/>
          </a:prstGeom>
          <a:solidFill>
            <a:srgbClr val="14B8A6"/>
          </a:solidFill>
          <a:ln w="25400">
            <a:solidFill>
              <a:srgbClr val="060E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548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2377440"/>
            <a:ext cx="3322320" cy="3474720"/>
          </a:xfrm>
          <a:prstGeom prst="roundRect">
            <a:avLst/>
          </a:prstGeom>
          <a:solidFill>
            <a:srgbClr val="0E1A1E"/>
          </a:solidFill>
          <a:ln w="19050">
            <a:solidFill>
              <a:srgbClr val="163D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377440"/>
            <a:ext cx="33223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Bootstrapping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Warm-start agent policy networks in photorealistic synthetic virtual environments.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874520"/>
            <a:ext cx="274320" cy="274320"/>
          </a:xfrm>
          <a:prstGeom prst="oval">
            <a:avLst/>
          </a:prstGeom>
          <a:solidFill>
            <a:srgbClr val="14B8A6"/>
          </a:solidFill>
          <a:ln w="25400">
            <a:solidFill>
              <a:srgbClr val="060E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19600" y="2377440"/>
            <a:ext cx="3322320" cy="3474720"/>
          </a:xfrm>
          <a:prstGeom prst="roundRect">
            <a:avLst/>
          </a:prstGeom>
          <a:solidFill>
            <a:srgbClr val="0E1A1E"/>
          </a:solidFill>
          <a:ln w="19050">
            <a:solidFill>
              <a:srgbClr val="163D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9600" y="2377440"/>
            <a:ext cx="33223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455676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Sim-to-Real Transfer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5676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 the virtual-physical domain gaps using zero-shot domain randomization techniques.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31680" y="1874520"/>
            <a:ext cx="274320" cy="274320"/>
          </a:xfrm>
          <a:prstGeom prst="oval">
            <a:avLst/>
          </a:prstGeom>
          <a:solidFill>
            <a:srgbClr val="14B8A6"/>
          </a:solidFill>
          <a:ln w="25400">
            <a:solidFill>
              <a:srgbClr val="060E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1640" y="1280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07680" y="2377440"/>
            <a:ext cx="3322320" cy="3474720"/>
          </a:xfrm>
          <a:prstGeom prst="roundRect">
            <a:avLst/>
          </a:prstGeom>
          <a:solidFill>
            <a:srgbClr val="0E1A1E"/>
          </a:solidFill>
          <a:ln w="19050">
            <a:solidFill>
              <a:srgbClr val="163D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07680" y="2377440"/>
            <a:ext cx="332232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8244840" y="251460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Autonomous Mastery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44840" y="2971800"/>
            <a:ext cx="304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agents to refine behaviors via self-supervised online reinforcement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04 | EMBODIED &amp; SPATIAL AI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64240" y="210312"/>
            <a:ext cx="73152" cy="73152"/>
          </a:xfrm>
          <a:prstGeom prst="oval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173968" y="210312"/>
            <a:ext cx="73152" cy="73152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210312"/>
            <a:ext cx="73152" cy="73152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36576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65760"/>
            <a:ext cx="182880" cy="18288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54864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48872" y="365760"/>
            <a:ext cx="45720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163D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F7D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AI &amp; SPATIAL INTELLIGENCE | INDUSTRY TRENDS | SLIDE 04/12 | 2024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Action Model (WAM)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" y="822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Overview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1463040"/>
            <a:ext cx="4754880" cy="4389120"/>
          </a:xfrm>
          <a:prstGeom prst="roundRect">
            <a:avLst/>
          </a:prstGeom>
          <a:solidFill>
            <a:srgbClr val="0E1A1E"/>
          </a:solidFill>
          <a:ln w="19050">
            <a:solidFill>
              <a:srgbClr val="163D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463040"/>
            <a:ext cx="475488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173736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Spatiotemporal Cross-Attention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Processes history spatial tokens and predicts subsequent action states.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Register Tokens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Encodes 3D physical coordinates into unified embedding representations.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Physics Constraint Bounds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1E2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Enforces structural collision limits and gravitational constants directly in latent space.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4389120" cy="4389120"/>
          </a:xfrm>
          <a:prstGeom prst="roundRect">
            <a:avLst/>
          </a:prstGeom>
          <a:solidFill>
            <a:srgbClr val="0E1A1E"/>
          </a:solidFill>
          <a:ln w="19050">
            <a:solidFill>
              <a:srgbClr val="163D3F"/>
            </a:solidFill>
            <a:prstDash val="solid"/>
          </a:ln>
        </p:spPr>
      </p:sp>
      <p:pic>
        <p:nvPicPr>
          <p:cNvPr id="18" name="Image 0" descr="/mnt/c/Users/Administrator/.gemini/skills/markdown-to-pptx/assets/model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536192"/>
            <a:ext cx="4242816" cy="4242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2026-06-21T12:17:25Z</dcterms:created>
  <dcterms:modified xsi:type="dcterms:W3CDTF">2026-06-21T12:17:25Z</dcterms:modified>
</cp:coreProperties>
</file>