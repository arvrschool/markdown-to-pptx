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Local Inference (ms)</c:v>
                </c:pt>
              </c:strCache>
            </c:strRef>
          </c:tx>
          <c:spPr>
            <a:solidFill>
              <a:srgbClr val="D946E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Baseline VLA</c:v>
                  </c:pt>
                  <c:pt idx="1">
                    <c:v>WAM Core</c:v>
                  </c:pt>
                  <c:pt idx="2">
                    <c:v>WAM++ Optimized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</c:v>
                </c:pt>
                <c:pt idx="1">
                  <c:v>16</c:v>
                </c:pt>
                <c:pt idx="2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Remote Cloud API (ms)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Baseline VLA</c:v>
                  </c:pt>
                  <c:pt idx="1">
                    <c:v>WAM Core</c:v>
                  </c:pt>
                  <c:pt idx="2">
                    <c:v>WAM++ Optimized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850</c:v>
                </c:pt>
                <c:pt idx="1">
                  <c:v>450</c:v>
                </c:pt>
                <c:pt idx="2">
                  <c:v>380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9D5F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B556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9D5F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B556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that WAM runs at 60fps local inference to enable real-time reactive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2743200" cy="594360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0" y="1828800"/>
            <a:ext cx="6858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Embodied &amp; Spatial AI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389120" y="411480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Spatial Intelligence and Autonomous Action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Advanced Robotics &amp; World Modeling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SLIDE 01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Core Paradigm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46504" y="1463040"/>
            <a:ext cx="86868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46504" y="1463040"/>
            <a:ext cx="8686800" cy="73152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11" name="Text 9"/>
          <p:cNvSpPr/>
          <p:nvPr/>
        </p:nvSpPr>
        <p:spPr>
          <a:xfrm>
            <a:off x="2020824" y="1737360"/>
            <a:ext cx="8138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"Embodied AI bridges the gap between passive digital reasoning and physical action. By grounding intelligence in 3D space, agents learn to perceive, simulate, and navigate the physical world."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SLIDE 02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Core Domains of Spatial AI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463040"/>
            <a:ext cx="548640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463040"/>
            <a:ext cx="5486400" cy="73152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737360"/>
            <a:ext cx="1188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828800" y="16916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Embodied AI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828800" y="2057400"/>
            <a:ext cx="3749040" cy="0"/>
          </a:xfrm>
          <a:prstGeom prst="line">
            <a:avLst/>
          </a:prstGeom>
          <a:noFill/>
          <a:ln w="12700">
            <a:solidFill>
              <a:srgbClr val="E9D5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8800" y="2148840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Bringing digital intelligence into physical robots to act, learn, and manipulate objects.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336792" y="1463040"/>
            <a:ext cx="548640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36792" y="1463040"/>
            <a:ext cx="5486400" cy="73152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17" name="Text 15"/>
          <p:cNvSpPr/>
          <p:nvPr/>
        </p:nvSpPr>
        <p:spPr>
          <a:xfrm>
            <a:off x="6473952" y="1737360"/>
            <a:ext cx="1188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🔹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7799832" y="16916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Spatial Perception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799832" y="2057400"/>
            <a:ext cx="3749040" cy="0"/>
          </a:xfrm>
          <a:prstGeom prst="line">
            <a:avLst/>
          </a:prstGeom>
          <a:noFill/>
          <a:ln w="12700">
            <a:solidFill>
              <a:srgbClr val="E9D5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99832" y="2148840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Voxel-level 3D semantic mapping, real-time depth tracing, and active sensor fusion.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" y="4023360"/>
            <a:ext cx="548640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4023360"/>
            <a:ext cx="5486400" cy="73152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4297680"/>
            <a:ext cx="1188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🔹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1828800" y="4251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Autonomous Navigation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828800" y="4617720"/>
            <a:ext cx="3749040" cy="0"/>
          </a:xfrm>
          <a:prstGeom prst="line">
            <a:avLst/>
          </a:prstGeom>
          <a:noFill/>
          <a:ln w="12700">
            <a:solidFill>
              <a:srgbClr val="E9D5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28800" y="4709160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Reactive trajectory optimization, localized SLAM, and dynamic obstacle avoidance.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336792" y="4023360"/>
            <a:ext cx="548640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36792" y="4023360"/>
            <a:ext cx="5486400" cy="73152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29" name="Text 27"/>
          <p:cNvSpPr/>
          <p:nvPr/>
        </p:nvSpPr>
        <p:spPr>
          <a:xfrm>
            <a:off x="6473952" y="4297680"/>
            <a:ext cx="1188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🔹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7799832" y="4251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Real-World Impact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799832" y="4617720"/>
            <a:ext cx="3749040" cy="0"/>
          </a:xfrm>
          <a:prstGeom prst="line">
            <a:avLst/>
          </a:prstGeom>
          <a:noFill/>
          <a:ln w="12700">
            <a:solidFill>
              <a:srgbClr val="E9D5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99832" y="4709160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Deploying agents to automated assembly lines, warehouses, and complex physical environments.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SLIDE 03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Embodied Agent Evolution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011680"/>
            <a:ext cx="10332720" cy="0"/>
          </a:xfrm>
          <a:prstGeom prst="line">
            <a:avLst/>
          </a:prstGeom>
          <a:noFill/>
          <a:ln w="25400">
            <a:solidFill>
              <a:srgbClr val="D946EF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2255520" y="1874520"/>
            <a:ext cx="274320" cy="274320"/>
          </a:xfrm>
          <a:prstGeom prst="oval">
            <a:avLst/>
          </a:prstGeom>
          <a:solidFill>
            <a:srgbClr val="D946EF"/>
          </a:solidFill>
          <a:ln w="25400">
            <a:solidFill>
              <a:srgbClr val="FAF5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35480" y="1280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46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2377440"/>
            <a:ext cx="332232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2377440"/>
            <a:ext cx="3322320" cy="73152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251460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Simulation Bootstrapping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2971800"/>
            <a:ext cx="3048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Warm-start agent policy networks in photorealistic synthetic virtual environments.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0" y="1874520"/>
            <a:ext cx="274320" cy="274320"/>
          </a:xfrm>
          <a:prstGeom prst="oval">
            <a:avLst/>
          </a:prstGeom>
          <a:solidFill>
            <a:srgbClr val="D946EF"/>
          </a:solidFill>
          <a:ln w="25400">
            <a:solidFill>
              <a:srgbClr val="FAF5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280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46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419600" y="2377440"/>
            <a:ext cx="332232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19600" y="2377440"/>
            <a:ext cx="3322320" cy="73152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20" name="Text 18"/>
          <p:cNvSpPr/>
          <p:nvPr/>
        </p:nvSpPr>
        <p:spPr>
          <a:xfrm>
            <a:off x="4556760" y="251460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Sim-to-Real Transfer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56760" y="2971800"/>
            <a:ext cx="3048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Bridge the virtual-physical domain gaps using zero-shot domain randomization techniques.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631680" y="1874520"/>
            <a:ext cx="274320" cy="274320"/>
          </a:xfrm>
          <a:prstGeom prst="oval">
            <a:avLst/>
          </a:prstGeom>
          <a:solidFill>
            <a:srgbClr val="D946EF"/>
          </a:solidFill>
          <a:ln w="25400">
            <a:solidFill>
              <a:srgbClr val="FAF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11640" y="1280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46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107680" y="2377440"/>
            <a:ext cx="332232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07680" y="2377440"/>
            <a:ext cx="3322320" cy="73152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26" name="Text 24"/>
          <p:cNvSpPr/>
          <p:nvPr/>
        </p:nvSpPr>
        <p:spPr>
          <a:xfrm>
            <a:off x="8244840" y="251460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Physical Autonomous Mastery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44840" y="2971800"/>
            <a:ext cx="3048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 agents to refine behaviors via self-supervised online reinforcement learning.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SLIDE 04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World Action Model (WAM)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463040"/>
            <a:ext cx="4754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463040"/>
            <a:ext cx="4754880" cy="73152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1737360"/>
            <a:ext cx="4206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Spatiotemporal Cross-Attention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: Processes history spatial tokens and predicts subsequent action states.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Spatial Register Tokens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: Encodes 3D physical coordinates into unified embedding representations.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Physics Constraint Bounds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: Enforces structural collision limits and gravitational constants directly in latent space.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43891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pic>
        <p:nvPicPr>
          <p:cNvPr id="13" name="Image 0" descr="/mnt/c/Users/Administrator/.gemini/skills/markdown-to-pptx/tests/assets/model_architectu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2" y="1536192"/>
            <a:ext cx="4242816" cy="42428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SLIDE 05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 Statistics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463040"/>
            <a:ext cx="33223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463040"/>
            <a:ext cx="3322320" cy="73152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783080"/>
            <a:ext cx="313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946EF"/>
                </a:solidFill>
                <a:latin typeface="Georgia, 'Microsoft YaHei', serif" pitchFamily="34" charset="0"/>
                <a:ea typeface="Georgia, 'Microsoft YaHei', serif" pitchFamily="34" charset="-122"/>
                <a:cs typeface="Georgia, 'Microsoft YaHei', serif" pitchFamily="34" charset="-120"/>
              </a:rPr>
              <a:t>98.2%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914400" y="2697480"/>
            <a:ext cx="2956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Accuracy in voxel-level 3D semantic mapping and active sensor fusion.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419600" y="1463040"/>
            <a:ext cx="33223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19600" y="1463040"/>
            <a:ext cx="3322320" cy="73152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15" name="Text 13"/>
          <p:cNvSpPr/>
          <p:nvPr/>
        </p:nvSpPr>
        <p:spPr>
          <a:xfrm>
            <a:off x="4511040" y="1783080"/>
            <a:ext cx="313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946EF"/>
                </a:solidFill>
                <a:latin typeface="Georgia, 'Microsoft YaHei', serif" pitchFamily="34" charset="0"/>
                <a:ea typeface="Georgia, 'Microsoft YaHei', serif" pitchFamily="34" charset="-122"/>
                <a:cs typeface="Georgia, 'Microsoft YaHei', serif" pitchFamily="34" charset="-120"/>
              </a:rPr>
              <a:t>12.5x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4602480" y="2697480"/>
            <a:ext cx="2956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Speedup in sim-to-real transfer with zero-shot domain randomization.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07680" y="1463040"/>
            <a:ext cx="33223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07680" y="1463040"/>
            <a:ext cx="3322320" cy="73152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19" name="Text 17"/>
          <p:cNvSpPr/>
          <p:nvPr/>
        </p:nvSpPr>
        <p:spPr>
          <a:xfrm>
            <a:off x="8199120" y="1783080"/>
            <a:ext cx="313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946EF"/>
                </a:solidFill>
                <a:latin typeface="Georgia, 'Microsoft YaHei', serif" pitchFamily="34" charset="0"/>
                <a:ea typeface="Georgia, 'Microsoft YaHei', serif" pitchFamily="34" charset="-122"/>
                <a:cs typeface="Georgia, 'Microsoft YaHei', serif" pitchFamily="34" charset="-120"/>
              </a:rPr>
              <a:t>-35%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8290560" y="2697480"/>
            <a:ext cx="2956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Collision rates in crowded dynamic obstacle environments.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SLIDE 06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Simulation vs Physical Contrast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463040"/>
            <a:ext cx="51663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463040"/>
            <a:ext cx="516636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6916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🔹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22960" y="21945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Simulation Environment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26974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Photorealistic virtual domain, zero hardware risk, infinite parallel rollouts, perfect sensor measurements.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463040"/>
            <a:ext cx="51663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63640" y="1463040"/>
            <a:ext cx="5166360" cy="7315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16916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🔹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355080" y="21945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Physical Real World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46520" y="26974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Noisy real-world sensors, mechanical wear and lag, high collision risks, limited execution speed.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SLIDE 07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Latency Benchmark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9D5FF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914400" y="1463040"/>
          <a:ext cx="1033272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2026-07-04T03:04:37Z</dcterms:created>
  <dcterms:modified xsi:type="dcterms:W3CDTF">2026-07-04T03:04:37Z</dcterms:modified>
</cp:coreProperties>
</file>